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4CCF8-301D-4A1F-B91C-4F7B3CA7B89D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E9890-6DE4-45D6-852D-CC78EC731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102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A7B4-F13B-4034-99D5-5492A8522C26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06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CB23A-55C7-47CF-AB9B-7756974EC3DA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575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4BE7-39E8-41A5-8A34-59E686DAE7C3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55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51A-160E-405F-8839-401FD89350F7}" type="datetime1">
              <a:rPr lang="en-IN" smtClean="0"/>
              <a:t>24-11-2025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2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942F-05F9-4F17-8AA6-CEDE3D069CA5}" type="datetime1">
              <a:rPr lang="en-IN" smtClean="0"/>
              <a:t>24-11-2025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85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A8D-A145-46B6-A2AA-56ABD1A99B40}" type="datetime1">
              <a:rPr lang="en-IN" smtClean="0"/>
              <a:t>24-11-2025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3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8AE9-EC9F-4DC3-B98C-41624C0FB563}" type="datetime1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85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C276-235A-480E-8DB0-A369A084C0D7}" type="datetime1">
              <a:rPr lang="en-IN" smtClean="0"/>
              <a:t>24-11-2025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44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E941-70DD-44C7-AF04-590799702459}" type="datetime1">
              <a:rPr lang="en-IN" smtClean="0"/>
              <a:t>24-11-2025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86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EE4B-5DA0-41A7-8FA3-17EBCA52CD2D}" type="datetime1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800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AAE-EDDD-48BB-889F-A03C0F7BF46A}" type="datetime1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62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2825CFF-2108-46E3-9C2A-7BCB2AFB47A9}" type="datetime1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749AD7A-B1AD-489B-8206-7F22AB19CD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6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7E83-9E83-6022-9E4B-FEA6DBB13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Namma</a:t>
            </a:r>
            <a:r>
              <a:rPr lang="en-US" dirty="0"/>
              <a:t> Yatri – Technical Analytics Report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70427-C276-DB84-9A72-CBC85A5D5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894371"/>
            <a:ext cx="8441705" cy="1005840"/>
          </a:xfrm>
        </p:spPr>
        <p:txBody>
          <a:bodyPr/>
          <a:lstStyle/>
          <a:p>
            <a:r>
              <a:rPr lang="en-US" dirty="0"/>
              <a:t>Introduce purpose, data sources, and analytical focus (trips, revenue, cancellations, time slot performance).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951E7-E50E-985D-0507-17AC6E86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33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D5C1-A4E5-A59F-ACEE-249A6239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1. Revenue distribution across the day highlights demand cycles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EA8920-9EF2-40D9-AF71-21694484D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6866" y="707354"/>
            <a:ext cx="7731061" cy="155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SzTx/>
              <a:buNone/>
              <a:tabLst/>
            </a:pPr>
            <a:r>
              <a:rPr lang="en-US" altLang="en-US" sz="1800" b="1" dirty="0"/>
              <a:t>Insights: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Morning and Night contribute the highest share of revenue.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Afternoon is consistently the weakest slot.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Revenue peaks correlate strongly with commuter patterns.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6EC76-3C98-0735-9461-11C799C03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624" y="2365797"/>
            <a:ext cx="4786465" cy="27537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EC619D-0208-6465-3444-C919F4CD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2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EBFD5-0A38-478E-299A-8D4986A4B94D}"/>
              </a:ext>
            </a:extLst>
          </p:cNvPr>
          <p:cNvSpPr txBox="1"/>
          <p:nvPr/>
        </p:nvSpPr>
        <p:spPr>
          <a:xfrm>
            <a:off x="116541" y="71718"/>
            <a:ext cx="9099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NAMMA YATRI – TECHNICAL ANALYTICS REPORT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3F7D4AD-1AEB-0D5F-F941-7F19ABCF5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537" y="5227961"/>
            <a:ext cx="7731061" cy="994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Technical Angle:</a:t>
            </a:r>
          </a:p>
          <a:p>
            <a:r>
              <a:rPr lang="en-US" sz="1800" dirty="0"/>
              <a:t>Time-based grouping created using duration mapping; summarization via measures and category bins.</a:t>
            </a:r>
          </a:p>
        </p:txBody>
      </p:sp>
    </p:spTree>
    <p:extLst>
      <p:ext uri="{BB962C8B-B14F-4D97-AF65-F5344CB8AC3E}">
        <p14:creationId xmlns:p14="http://schemas.microsoft.com/office/powerpoint/2010/main" val="7278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5130-F16B-298E-BD26-AB4894A0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D5BC-64DD-E5EB-9413-B4900E38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2. Granular hourly performance reveals micro-peak patterns beyond the broad time-slot categories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D0CD3C-E67D-08EB-6CBF-0E07216EC0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68537" y="707354"/>
            <a:ext cx="7731061" cy="155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SzTx/>
              <a:buNone/>
              <a:tabLst/>
            </a:pPr>
            <a:r>
              <a:rPr lang="en-US" altLang="en-US" sz="1800" b="1" dirty="0"/>
              <a:t>Insights:</a:t>
            </a:r>
          </a:p>
          <a:p>
            <a:pPr fontAlgn="base">
              <a:spcAft>
                <a:spcPct val="0"/>
              </a:spcAft>
            </a:pPr>
            <a:r>
              <a:rPr lang="en-US" altLang="en-US" sz="1800" dirty="0"/>
              <a:t>Clear spikes in early morning and late-night hours. </a:t>
            </a:r>
          </a:p>
          <a:p>
            <a:pPr fontAlgn="base">
              <a:spcAft>
                <a:spcPct val="0"/>
              </a:spcAft>
            </a:pPr>
            <a:r>
              <a:rPr lang="en-US" altLang="en-US" sz="1800" dirty="0"/>
              <a:t>A sharp drop during afternoon hours.</a:t>
            </a:r>
          </a:p>
          <a:p>
            <a:pPr fontAlgn="base">
              <a:spcAft>
                <a:spcPct val="0"/>
              </a:spcAft>
            </a:pPr>
            <a:r>
              <a:rPr lang="en-US" altLang="en-US" sz="1800" dirty="0"/>
              <a:t>Distribution supports shift optimization for drivers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5A7282-FF21-1CD5-0536-D8EAC3C37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141" y="2258548"/>
            <a:ext cx="5728994" cy="28960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F8C6BD6-6FF1-CE25-6D7D-1B468459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3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A6C998-47CE-DA3D-1CDA-1C56CB4EC76B}"/>
              </a:ext>
            </a:extLst>
          </p:cNvPr>
          <p:cNvSpPr txBox="1"/>
          <p:nvPr/>
        </p:nvSpPr>
        <p:spPr>
          <a:xfrm>
            <a:off x="116541" y="71718"/>
            <a:ext cx="9099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NAMMA YATRI – TECHNICAL ANALYTICS REPORT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394CB9B-FADC-BBB3-91E4-A4EDE9B06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537" y="5281177"/>
            <a:ext cx="7731061" cy="74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Technical Angle:</a:t>
            </a:r>
          </a:p>
          <a:p>
            <a:r>
              <a:rPr lang="en-US" sz="1600" dirty="0"/>
              <a:t>Continuous hour modeling, aggregated via DAX using SUMX over trip-level revenue.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594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15D8-FFC9-4E3C-F46B-7A1108F1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C23A-5DB7-19BB-C8C8-CE49FE6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3. Understanding payment preferences helps validate system reliability and customer behavior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2C315D-B4A0-4165-DCD8-54530D77E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4796" y="747841"/>
            <a:ext cx="7731061" cy="155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SzTx/>
              <a:buNone/>
              <a:tabLst/>
            </a:pPr>
            <a:r>
              <a:rPr lang="en-US" altLang="en-US" sz="1800" b="1" dirty="0"/>
              <a:t>Insights: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Credit card, UPI, and debit card show similar usage.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Cash usage is slightly lower, showing digital adoption is strong.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Balanced digital methods indicate stable payment infrastructure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FB301-C73D-BBBF-F86D-689368203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65" y="2336937"/>
            <a:ext cx="4639322" cy="27816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046D6-8BAB-A86D-5862-F54FF833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83224-2518-8457-7B62-5D8BE1D29F57}"/>
              </a:ext>
            </a:extLst>
          </p:cNvPr>
          <p:cNvSpPr txBox="1"/>
          <p:nvPr/>
        </p:nvSpPr>
        <p:spPr>
          <a:xfrm>
            <a:off x="116541" y="71718"/>
            <a:ext cx="9099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NAMMA YATRI – TECHNICAL ANALYTICS REPORT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6BBBE62-9318-6C22-BDA2-DAEB75ED0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537" y="5184227"/>
            <a:ext cx="7731061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Technical Angle:</a:t>
            </a:r>
          </a:p>
          <a:p>
            <a:r>
              <a:rPr lang="en-US" sz="1600" dirty="0"/>
              <a:t>Payment lookup mapping done via left-join; counts computed using COUNTROWS with filter context.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60475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DD4A6-BDE6-9081-654D-48561328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D29F-CBE4-F7B7-93C7-6F20CC0A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4. Identifies high-demand catchment zones essential for supply planning.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762780-4212-6E3D-9F93-FB6DFF6FA1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4707" y="791978"/>
            <a:ext cx="7731061" cy="155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SzTx/>
              <a:buNone/>
              <a:tabLst/>
            </a:pPr>
            <a:r>
              <a:rPr lang="en-US" altLang="en-US" sz="1800" dirty="0"/>
              <a:t>Insights: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Ramanagaram and </a:t>
            </a:r>
            <a:r>
              <a:rPr lang="en-US" altLang="en-US" sz="1800" dirty="0" err="1"/>
              <a:t>Yeshwantpur</a:t>
            </a:r>
            <a:r>
              <a:rPr lang="en-US" altLang="en-US" sz="1800" dirty="0"/>
              <a:t> consistently appear as top pickup hubs.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Bangalore South and </a:t>
            </a:r>
            <a:r>
              <a:rPr lang="en-US" altLang="en-US" sz="1800" dirty="0" err="1"/>
              <a:t>Dasarahalli</a:t>
            </a:r>
            <a:r>
              <a:rPr lang="en-US" altLang="en-US" sz="1800" dirty="0"/>
              <a:t> also show strong demand.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Pickup demand correlates with dense residential or transit-heavy zones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1DD32-5651-2712-E397-D7D6E5EAC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5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F1D0CA-B179-2912-D93F-460599D4EBAA}"/>
              </a:ext>
            </a:extLst>
          </p:cNvPr>
          <p:cNvSpPr txBox="1"/>
          <p:nvPr/>
        </p:nvSpPr>
        <p:spPr>
          <a:xfrm>
            <a:off x="116541" y="71718"/>
            <a:ext cx="9099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NAMMA YATRI – TECHNICAL ANALYTICS REPORT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CD04E-EB13-F128-D798-09DEEAABA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27" y="2343172"/>
            <a:ext cx="5868219" cy="27816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03D2E791-F71C-468E-3468-218BDCCE6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537" y="5281177"/>
            <a:ext cx="7731061" cy="74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Technical Angle:</a:t>
            </a:r>
          </a:p>
          <a:p>
            <a:r>
              <a:rPr lang="en-US" sz="1600" dirty="0"/>
              <a:t>Mapping location IDs to Assembly names via Power Query merges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077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219ED-2CBE-4D44-1900-2038133BD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FC2C-0D6E-2432-4D5F-74732D9A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5. Helps distinguish between high-volume and high-value zones.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A48C31-96B1-044D-03B2-A377C7360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70657" y="774049"/>
            <a:ext cx="7731061" cy="155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SzTx/>
              <a:buNone/>
              <a:tabLst/>
            </a:pPr>
            <a:r>
              <a:rPr lang="en-US" altLang="en-US" sz="1800" b="1" dirty="0"/>
              <a:t>Insights: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Bangalore South leads in revenue generation.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 err="1"/>
              <a:t>Yeshwantpur</a:t>
            </a:r>
            <a:r>
              <a:rPr lang="en-US" altLang="en-US" sz="1800" dirty="0"/>
              <a:t> and Hebbal follow strong.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Revenue does not always scale linearly with number of trips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39704-4BDA-56B8-4F4A-9BC8E5E5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C59B7-8A57-89FB-30DD-F5EA065463B8}"/>
              </a:ext>
            </a:extLst>
          </p:cNvPr>
          <p:cNvSpPr txBox="1"/>
          <p:nvPr/>
        </p:nvSpPr>
        <p:spPr>
          <a:xfrm>
            <a:off x="116541" y="71718"/>
            <a:ext cx="9099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NAMMA YATRI – TECHNICAL ANALYTICS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4A76D-C709-21E0-1009-2D6AF068D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29" y="2442799"/>
            <a:ext cx="6106377" cy="24477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7D2876CC-D2AD-F81A-B86F-8BED1DC52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537" y="5156528"/>
            <a:ext cx="7731061" cy="994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Technical Angle:</a:t>
            </a:r>
          </a:p>
          <a:p>
            <a:r>
              <a:rPr lang="en-US" sz="1600" dirty="0"/>
              <a:t>Revenue measures computed using SUM(fare); zone-level aggregation done through DAX grouping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642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01802-5431-4EDD-1E06-5AAE870A3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CE92-7377-1C1B-C767-4382F8801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6. Technical validation of booking flow reliability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C8D662-A763-0480-9E22-55C1DAE8C2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5681" y="766067"/>
            <a:ext cx="7731061" cy="155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SzTx/>
              <a:buNone/>
              <a:tabLst/>
            </a:pPr>
            <a:r>
              <a:rPr lang="en-US" altLang="en-US" sz="1800" b="1" dirty="0"/>
              <a:t>Insights: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Completion rates for both customer and driver are nearly identical.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Cancellations are balanced, indicating system stability.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No major bias in cancellation initiation observed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FF3D1-64C6-9A66-1B70-A0405959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DDC50-05F6-20E8-E0BA-33F5638EE19A}"/>
              </a:ext>
            </a:extLst>
          </p:cNvPr>
          <p:cNvSpPr txBox="1"/>
          <p:nvPr/>
        </p:nvSpPr>
        <p:spPr>
          <a:xfrm>
            <a:off x="116541" y="71718"/>
            <a:ext cx="9099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NAMMA YATRI – TECHNICAL ANALYTICS REPORT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116805-B4C4-CD07-74EF-2EB8B5DB9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29" y="2479419"/>
            <a:ext cx="6030167" cy="25149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F44673E-1B7F-A551-1B37-88297D03B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537" y="5281177"/>
            <a:ext cx="7731061" cy="74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Technical Angle:</a:t>
            </a:r>
          </a:p>
          <a:p>
            <a:r>
              <a:rPr lang="en-US" sz="1600" dirty="0"/>
              <a:t>Binary flags converted into metrics using </a:t>
            </a:r>
            <a:r>
              <a:rPr lang="en-US" sz="1600" dirty="0" err="1"/>
              <a:t>boolean</a:t>
            </a:r>
            <a:r>
              <a:rPr lang="en-US" sz="1600" dirty="0"/>
              <a:t> DAX + percentage measures.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4806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AAE4E-A6F0-7DAA-B0E5-4706FDEB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4FD1-907B-CAC1-14D8-2F81F9D0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7. Evaluates quote system effectiveness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C90CB4-D2A9-9598-EDB8-168FDE1616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61692" y="707354"/>
            <a:ext cx="7731061" cy="155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SzTx/>
              <a:buNone/>
              <a:tabLst/>
            </a:pPr>
            <a:r>
              <a:rPr lang="en-US" altLang="en-US" sz="1800" b="1" dirty="0"/>
              <a:t>Insights: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100% completion after quote in all time slots.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Indicates flawless quote acceptance → ride completion flow.</a:t>
            </a:r>
          </a:p>
          <a:p>
            <a:pPr marR="0" lvl="0" fontAlgn="base">
              <a:spcAft>
                <a:spcPct val="0"/>
              </a:spcAft>
              <a:buSzTx/>
              <a:tabLst/>
            </a:pPr>
            <a:r>
              <a:rPr lang="en-US" altLang="en-US" sz="1800" dirty="0"/>
              <a:t>Suggests no technical blockers in post-quote journey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E7266-FFBB-7F85-4127-4FD48BE2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8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B2638-0F1F-6B85-6A36-9DD7DB1A419D}"/>
              </a:ext>
            </a:extLst>
          </p:cNvPr>
          <p:cNvSpPr txBox="1"/>
          <p:nvPr/>
        </p:nvSpPr>
        <p:spPr>
          <a:xfrm>
            <a:off x="116541" y="71718"/>
            <a:ext cx="9099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NAMMA YATRI – TECHNICAL ANALYTICS REPORT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5E4CB3-A35D-2397-E2BC-540B14017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074" y="2428305"/>
            <a:ext cx="5811061" cy="25225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4972EF9-D9D6-6A04-C614-0FC241596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537" y="5156528"/>
            <a:ext cx="7731061" cy="994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Technical Angle:</a:t>
            </a:r>
          </a:p>
          <a:p>
            <a:r>
              <a:rPr lang="en-US" sz="1600" dirty="0" err="1"/>
              <a:t>Trip_Details</a:t>
            </a:r>
            <a:r>
              <a:rPr lang="en-US" sz="1600" dirty="0"/>
              <a:t> joined with Duration; filtered % computed via DIVIDE with TREATAS to ensure time-slot context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705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F0BCC-205F-234D-A992-E16BCDE9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C1BEC99-F579-6641-531B-1BEC85734F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3574" y="2943821"/>
            <a:ext cx="294748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40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THANK YOU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184FE-8CE5-2682-2C88-1B998BD7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AD7A-B1AD-489B-8206-7F22AB19CD1E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7C25C-73A4-02C0-D978-C75DDB6DD9B4}"/>
              </a:ext>
            </a:extLst>
          </p:cNvPr>
          <p:cNvSpPr txBox="1"/>
          <p:nvPr/>
        </p:nvSpPr>
        <p:spPr>
          <a:xfrm>
            <a:off x="116541" y="71718"/>
            <a:ext cx="9099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NAMMA YATRI – TECHNICAL ANALYTICS REPORT</a:t>
            </a:r>
          </a:p>
        </p:txBody>
      </p:sp>
    </p:spTree>
    <p:extLst>
      <p:ext uri="{BB962C8B-B14F-4D97-AF65-F5344CB8AC3E}">
        <p14:creationId xmlns:p14="http://schemas.microsoft.com/office/powerpoint/2010/main" val="324321625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32</TotalTime>
  <Words>470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Corbel</vt:lpstr>
      <vt:lpstr>Wingdings 2</vt:lpstr>
      <vt:lpstr>Frame</vt:lpstr>
      <vt:lpstr>Namma Yatri – Technical Analytics Report</vt:lpstr>
      <vt:lpstr>1. Revenue distribution across the day highlights demand cycles</vt:lpstr>
      <vt:lpstr>2. Granular hourly performance reveals micro-peak patterns beyond the broad time-slot categories</vt:lpstr>
      <vt:lpstr>3. Understanding payment preferences helps validate system reliability and customer behavior</vt:lpstr>
      <vt:lpstr>4. Identifies high-demand catchment zones essential for supply planning.</vt:lpstr>
      <vt:lpstr>5. Helps distinguish between high-volume and high-value zones.</vt:lpstr>
      <vt:lpstr>6. Technical validation of booking flow reliability</vt:lpstr>
      <vt:lpstr>7. Evaluates quote system effectiveness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Dinesh</dc:creator>
  <cp:lastModifiedBy>Sai Dinesh</cp:lastModifiedBy>
  <cp:revision>1</cp:revision>
  <dcterms:created xsi:type="dcterms:W3CDTF">2025-11-23T20:16:03Z</dcterms:created>
  <dcterms:modified xsi:type="dcterms:W3CDTF">2025-11-23T20:48:30Z</dcterms:modified>
</cp:coreProperties>
</file>